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0B48-50A6-24D8-EAB9-99A98BFFE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16208-6FEA-9923-BCB0-731573202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7A33C-6D04-16A9-6E20-201ED30D6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F422-652C-49F8-9006-2E3C8CF0F33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813E5-9538-2DCD-CCE3-D0534618C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17179-B506-8565-0E13-7158D41AB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6B4B-3B18-405E-B68C-F33FF4A39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9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672FA-8663-B3D9-2AC1-970B4CF24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22CC0-83A7-FCCF-D14F-C45177746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C5B3B-3DD4-2471-3B9D-C89463586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F422-652C-49F8-9006-2E3C8CF0F33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D78A4-9F39-8A97-2698-01AFC6076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A84B8-F2B5-30AD-FF63-66D43A03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6B4B-3B18-405E-B68C-F33FF4A39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0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2E920-6176-8531-8B75-302BAEFC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03D38-AAC0-D4A5-765F-4331AE60C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3C3D4-B12C-019D-68FE-5C80ABC7C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F422-652C-49F8-9006-2E3C8CF0F33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04DAE-5365-F7AA-025A-1E7618BF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93817-ED6E-0DDC-55D6-45A27455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6B4B-3B18-405E-B68C-F33FF4A39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05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705EF-684B-0222-D148-0408F38D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4846E-0130-92FE-02FD-D7AEA0B45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D0EA7-CF92-C015-9CB2-E3665325C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BC349-0A07-DF56-FFA1-B36BF819B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F422-652C-49F8-9006-2E3C8CF0F33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C2427-2D33-4B25-2458-4FFE6019A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15AB7-70F6-FB4C-1904-92C1A772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6B4B-3B18-405E-B68C-F33FF4A39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83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1C0E8-9793-B4A9-DADB-9EF2CD89A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E569B-1BBC-6636-A901-57EFDB441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D5C31-679B-3872-5C33-F2EFC32CC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B6A0DF-B0CB-7974-D0DD-A7D821BE0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63E82-F7D7-3D52-B407-228FD2A6B5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5A512A-88C8-75FB-DE89-3C50FF91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F422-652C-49F8-9006-2E3C8CF0F33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0083B-DC7D-E8DC-57AE-FCEF96C96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56F4CC-A45F-D36C-A563-F769D409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6B4B-3B18-405E-B68C-F33FF4A39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87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D3E5-56FB-0FB5-FF07-F4DD07C5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B4AAD-E601-FCB1-3478-225DA6917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F422-652C-49F8-9006-2E3C8CF0F33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18E66-8DFB-7A2E-9B09-873DA2D80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8E68E-00B1-D369-9C21-487D0882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6B4B-3B18-405E-B68C-F33FF4A39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33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C0F52-6FF9-D718-2877-9221CFEFB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F422-652C-49F8-9006-2E3C8CF0F33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669791-121B-2320-07FF-71218978C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80FEB-179A-D8F6-AB8B-35A8EE96A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6B4B-3B18-405E-B68C-F33FF4A39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19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6EF65-2ADF-8CB3-D449-A8C855CE6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D4E5E-7569-CB98-BB6A-5C6F61A68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0E652-7428-9D07-CCCE-D36FA493A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6EBE8-C8CD-BAB8-E035-E597234D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F422-652C-49F8-9006-2E3C8CF0F33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2177E-42E8-27AF-3688-B313A32F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0E3EB-033B-FB31-4186-DE8B09C1B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6B4B-3B18-405E-B68C-F33FF4A39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04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DBD8-B01C-71D5-27D5-C9E03B7D3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24A0D2-4981-F608-A906-5DB2632B98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72103-6FBF-9E88-5546-768DFCF9D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2FC45-9CD6-AA6F-AC31-55FCF01A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F422-652C-49F8-9006-2E3C8CF0F33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A9651-BD38-25B5-47CD-7E2F945F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5AD9D-5F0B-A934-C7A3-43821716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6B4B-3B18-405E-B68C-F33FF4A39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9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3B92-5E22-6CB7-8592-2860ACFA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B2A8A-7F94-9802-9028-901517BF5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65599-7438-90A5-BBC9-FCDC35630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F422-652C-49F8-9006-2E3C8CF0F33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6084B-223C-9CD1-CEA1-438C12571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B8220-E382-0F12-1623-EAF6BAA4B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6B4B-3B18-405E-B68C-F33FF4A39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23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08F466-AF93-3294-3444-1F449E099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77E3E-92B2-DED0-73D6-B7E6C3C4D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25309-5777-D237-A30A-3B55451C3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9F422-652C-49F8-9006-2E3C8CF0F33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CB909-065F-3FA9-9B09-E063F7979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7CA9A-6F3C-9837-A991-266ECFA39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6B4B-3B18-405E-B68C-F33FF4A39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83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EEB970-ABA2-2AEF-A9E5-EEFCF9511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14859-DC7D-9EED-0B98-78DB2974C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8436F-5294-9403-EE30-38A7C356D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9F422-652C-49F8-9006-2E3C8CF0F33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D9359-E863-0F1D-7B1C-1CA7AC502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747A0-08D8-0A57-0E6F-100C7FE82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16B4B-3B18-405E-B68C-F33FF4A39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xpressjs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xpressjs.com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B9E4F-AC01-1457-0C0F-63FDE0C1E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B90F36-3B3A-A9E6-A243-FC7EBB81C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481171-437B-273A-DD06-2B0B9F04E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51" y="233252"/>
            <a:ext cx="11522697" cy="63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9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47354-16DF-B7E3-162D-8D5ACC6C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Express.js?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59F42-77CD-FD2D-5897-BABA9358A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 is a lightweight Node.js framework used to build: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applications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developers: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less code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APIs easily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routes efficiently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609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4E4D5-91D8-3DF1-24DD-865A970E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Express?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54C17-0292-02EF-E720-11739DBB3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✅ Fast Development</a:t>
            </a:r>
            <a:br>
              <a:rPr lang="en-US" dirty="0"/>
            </a:br>
            <a:r>
              <a:rPr lang="en-US" dirty="0"/>
              <a:t>✅ Easy Routing</a:t>
            </a:r>
            <a:br>
              <a:rPr lang="en-US" dirty="0"/>
            </a:br>
            <a:r>
              <a:rPr lang="en-US" dirty="0"/>
              <a:t>✅ Middleware Support</a:t>
            </a:r>
            <a:br>
              <a:rPr lang="en-US" dirty="0"/>
            </a:br>
            <a:r>
              <a:rPr lang="en-US" dirty="0"/>
              <a:t>✅ API Creation</a:t>
            </a:r>
            <a:br>
              <a:rPr lang="en-US" dirty="0"/>
            </a:br>
            <a:r>
              <a:rPr lang="en-US" dirty="0"/>
              <a:t>✅ Works with MongoDB</a:t>
            </a:r>
            <a:br>
              <a:rPr lang="en-US" dirty="0"/>
            </a:br>
            <a:r>
              <a:rPr lang="en-US" dirty="0"/>
              <a:t>✅ Used in MERN Stack</a:t>
            </a:r>
          </a:p>
        </p:txBody>
      </p:sp>
    </p:spTree>
    <p:extLst>
      <p:ext uri="{BB962C8B-B14F-4D97-AF65-F5344CB8AC3E}">
        <p14:creationId xmlns:p14="http://schemas.microsoft.com/office/powerpoint/2010/main" val="53945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8FCD3-2577-5F28-4490-27335ED6F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YOUR FIRST SERVER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AF6EF-4A68-EC80-3E7E-AD7A4F8A0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Create Project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Initialize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Install Express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03D6E1-4BAC-08D5-557E-EC05A164B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047" y="0"/>
            <a:ext cx="2435258" cy="14878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95B422-50B8-8ABF-0C90-C05EEB3163B3}"/>
              </a:ext>
            </a:extLst>
          </p:cNvPr>
          <p:cNvSpPr txBox="1"/>
          <p:nvPr/>
        </p:nvSpPr>
        <p:spPr>
          <a:xfrm>
            <a:off x="2038547" y="2250352"/>
            <a:ext cx="6094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mkdir express-app</a:t>
            </a:r>
            <a:br>
              <a:rPr lang="en-US" sz="2400" dirty="0">
                <a:solidFill>
                  <a:srgbClr val="0000FF"/>
                </a:solidFill>
              </a:rPr>
            </a:br>
            <a:r>
              <a:rPr lang="en-US" sz="2400" dirty="0">
                <a:solidFill>
                  <a:srgbClr val="0000FF"/>
                </a:solidFill>
              </a:rPr>
              <a:t>cd express-app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8D4EA9-D976-F7C4-F81B-99BE95585EC1}"/>
              </a:ext>
            </a:extLst>
          </p:cNvPr>
          <p:cNvSpPr txBox="1"/>
          <p:nvPr/>
        </p:nvSpPr>
        <p:spPr>
          <a:xfrm>
            <a:off x="2038547" y="3776652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</a:rPr>
              <a:t>npm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init</a:t>
            </a:r>
            <a:r>
              <a:rPr lang="en-US" sz="2400" dirty="0">
                <a:solidFill>
                  <a:srgbClr val="0000FF"/>
                </a:solidFill>
              </a:rPr>
              <a:t> -y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4CEB98-DD62-9166-DC3C-0DC0CEA90E8D}"/>
              </a:ext>
            </a:extLst>
          </p:cNvPr>
          <p:cNvSpPr txBox="1"/>
          <p:nvPr/>
        </p:nvSpPr>
        <p:spPr>
          <a:xfrm>
            <a:off x="1897145" y="4976807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</a:rPr>
              <a:t>npm</a:t>
            </a:r>
            <a:r>
              <a:rPr lang="en-US" sz="2400" dirty="0">
                <a:solidFill>
                  <a:srgbClr val="0000FF"/>
                </a:solidFill>
              </a:rPr>
              <a:t> install express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7AC6E-71CC-2E50-900E-37E48EA92BFE}"/>
              </a:ext>
            </a:extLst>
          </p:cNvPr>
          <p:cNvSpPr txBox="1"/>
          <p:nvPr/>
        </p:nvSpPr>
        <p:spPr>
          <a:xfrm>
            <a:off x="7332483" y="612354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Official website:</a:t>
            </a:r>
            <a:r>
              <a:rPr lang="en-US" dirty="0"/>
              <a:t> https://expressjs.com/</a:t>
            </a:r>
          </a:p>
        </p:txBody>
      </p:sp>
    </p:spTree>
    <p:extLst>
      <p:ext uri="{BB962C8B-B14F-4D97-AF65-F5344CB8AC3E}">
        <p14:creationId xmlns:p14="http://schemas.microsoft.com/office/powerpoint/2010/main" val="2774694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9A514-CA19-11E1-55DE-031FDD6AF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5CEC4-3D36-BE8A-9955-BD4868CB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11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First Server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75D482-538B-CEA1-BB63-5DA1FF6CD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047" y="0"/>
            <a:ext cx="2435258" cy="14878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E9740E-0274-0A90-A2AC-D93E8B401EB2}"/>
              </a:ext>
            </a:extLst>
          </p:cNvPr>
          <p:cNvSpPr txBox="1"/>
          <p:nvPr/>
        </p:nvSpPr>
        <p:spPr>
          <a:xfrm>
            <a:off x="355862" y="964640"/>
            <a:ext cx="6711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Server.js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578C4A-3621-4990-C9FB-C88FFA9AB9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51" t="14066" r="8119" b="14066"/>
          <a:stretch>
            <a:fillRect/>
          </a:stretch>
        </p:blipFill>
        <p:spPr>
          <a:xfrm>
            <a:off x="434418" y="1564155"/>
            <a:ext cx="9945279" cy="49287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FC9E71-0AC1-16DC-8DF2-4102EF8F8CED}"/>
              </a:ext>
            </a:extLst>
          </p:cNvPr>
          <p:cNvSpPr txBox="1"/>
          <p:nvPr/>
        </p:nvSpPr>
        <p:spPr>
          <a:xfrm>
            <a:off x="6743917" y="6488668"/>
            <a:ext cx="5113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Official website:</a:t>
            </a:r>
            <a:r>
              <a:rPr lang="en-US" dirty="0"/>
              <a:t> https://expressjs.com/</a:t>
            </a:r>
          </a:p>
        </p:txBody>
      </p:sp>
    </p:spTree>
    <p:extLst>
      <p:ext uri="{BB962C8B-B14F-4D97-AF65-F5344CB8AC3E}">
        <p14:creationId xmlns:p14="http://schemas.microsoft.com/office/powerpoint/2010/main" val="5861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CBAE2-CBC3-5EEA-FD9B-494F298EA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1A1A3-339A-B2A7-2857-4F804AA0A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5820B-09B0-18D0-2DF7-E88884CBA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Command in terminal: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server.js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57B1A-51E3-48BC-CB77-0F617EDBFF58}"/>
              </a:ext>
            </a:extLst>
          </p:cNvPr>
          <p:cNvSpPr txBox="1"/>
          <p:nvPr/>
        </p:nvSpPr>
        <p:spPr>
          <a:xfrm>
            <a:off x="954464" y="2828835"/>
            <a:ext cx="781246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rtl="0">
              <a:buNone/>
            </a:pPr>
            <a:r>
              <a:rPr lang="en-US" sz="4000" dirty="0">
                <a:latin typeface="Courier New" panose="02070309020205020404" pitchFamily="49" charset="0"/>
              </a:rPr>
              <a:t>Server Started</a:t>
            </a:r>
          </a:p>
          <a:p>
            <a:pPr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</a:t>
            </a:r>
          </a:p>
          <a:p>
            <a:pPr rtl="0">
              <a:buNone/>
            </a:pPr>
            <a:r>
              <a:rPr lang="en-US" sz="4000" dirty="0">
                <a:latin typeface="Courier New" panose="02070309020205020404" pitchFamily="49" charset="0"/>
              </a:rPr>
              <a:t>http://localhost:3000</a:t>
            </a:r>
          </a:p>
        </p:txBody>
      </p:sp>
    </p:spTree>
    <p:extLst>
      <p:ext uri="{BB962C8B-B14F-4D97-AF65-F5344CB8AC3E}">
        <p14:creationId xmlns:p14="http://schemas.microsoft.com/office/powerpoint/2010/main" val="2744324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D103B-702C-21AB-2ED7-AB066BFCA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6F07C-0B40-4894-30D4-8EC3CC06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app.get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25A5B-BFCF-C201-8E28-7EC8E2227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7590" y="1567643"/>
            <a:ext cx="61761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Explanation</a:t>
            </a:r>
          </a:p>
          <a:p>
            <a:r>
              <a:rPr lang="en-US" dirty="0" err="1"/>
              <a:t>app.get</a:t>
            </a:r>
            <a:r>
              <a:rPr lang="en-US" dirty="0"/>
              <a:t>()</a:t>
            </a:r>
            <a:r>
              <a:rPr lang="en-US" sz="3200" dirty="0"/>
              <a:t> → Handles GET request </a:t>
            </a:r>
          </a:p>
          <a:p>
            <a:r>
              <a:rPr lang="en-US" dirty="0"/>
              <a:t>/</a:t>
            </a:r>
            <a:r>
              <a:rPr lang="en-US" sz="3200" dirty="0"/>
              <a:t> → Route path </a:t>
            </a:r>
          </a:p>
          <a:p>
            <a:r>
              <a:rPr lang="en-US" dirty="0"/>
              <a:t>req</a:t>
            </a:r>
            <a:r>
              <a:rPr lang="en-US" sz="3200" dirty="0"/>
              <a:t> → Request from client </a:t>
            </a:r>
          </a:p>
          <a:p>
            <a:r>
              <a:rPr lang="en-US" dirty="0"/>
              <a:t>res</a:t>
            </a:r>
            <a:r>
              <a:rPr lang="en-US" sz="3200" dirty="0"/>
              <a:t> → Response to client </a:t>
            </a:r>
          </a:p>
          <a:p>
            <a:r>
              <a:rPr lang="en-US" dirty="0" err="1"/>
              <a:t>res.send</a:t>
            </a:r>
            <a:r>
              <a:rPr lang="en-US" dirty="0"/>
              <a:t>()</a:t>
            </a:r>
            <a:r>
              <a:rPr lang="en-US" sz="3200" dirty="0"/>
              <a:t> → Sends response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8A283-00D3-9D45-F67D-2C52C7167C89}"/>
              </a:ext>
            </a:extLst>
          </p:cNvPr>
          <p:cNvSpPr txBox="1"/>
          <p:nvPr/>
        </p:nvSpPr>
        <p:spPr>
          <a:xfrm>
            <a:off x="398283" y="1692877"/>
            <a:ext cx="52193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app.get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("/", (req, res) =&gt; { 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res.send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("Hello");});</a:t>
            </a:r>
          </a:p>
        </p:txBody>
      </p:sp>
    </p:spTree>
    <p:extLst>
      <p:ext uri="{BB962C8B-B14F-4D97-AF65-F5344CB8AC3E}">
        <p14:creationId xmlns:p14="http://schemas.microsoft.com/office/powerpoint/2010/main" val="1290509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F59F6-0DEA-6711-3A40-0B680BFC1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C313-B676-A813-F417-4C04740AD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4" y="0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Multiple Routes 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85D1C2-19C9-E8CA-9538-5EDA691B5DF8}"/>
              </a:ext>
            </a:extLst>
          </p:cNvPr>
          <p:cNvSpPr txBox="1"/>
          <p:nvPr/>
        </p:nvSpPr>
        <p:spPr>
          <a:xfrm>
            <a:off x="513762" y="1551563"/>
            <a:ext cx="756736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app.get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("/", (req, res) =&gt; {  </a:t>
            </a:r>
          </a:p>
          <a:p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res.send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(“Welcome to Home Page");</a:t>
            </a:r>
          </a:p>
          <a:p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app.get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("/about", (req, res) =&gt; { </a:t>
            </a:r>
          </a:p>
          <a:p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res.send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(“Welcome to About Page");</a:t>
            </a:r>
          </a:p>
          <a:p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AA37F4-877B-9778-7E12-08A686255B20}"/>
              </a:ext>
            </a:extLst>
          </p:cNvPr>
          <p:cNvSpPr txBox="1"/>
          <p:nvPr/>
        </p:nvSpPr>
        <p:spPr>
          <a:xfrm>
            <a:off x="6035117" y="3705999"/>
            <a:ext cx="55040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JSON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3ABE0E-66D4-8254-74C7-B83948E1464D}"/>
              </a:ext>
            </a:extLst>
          </p:cNvPr>
          <p:cNvSpPr txBox="1"/>
          <p:nvPr/>
        </p:nvSpPr>
        <p:spPr>
          <a:xfrm>
            <a:off x="6096000" y="4413885"/>
            <a:ext cx="60944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app.get</a:t>
            </a:r>
            <a:r>
              <a:rPr 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("/</a:t>
            </a:r>
            <a:r>
              <a:rPr lang="en-US" sz="3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(req, res) =&gt; {  </a:t>
            </a:r>
          </a:p>
          <a:p>
            <a:r>
              <a:rPr lang="en-US" sz="3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res.json</a:t>
            </a:r>
            <a:r>
              <a:rPr 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({    name: “smith",    course: "MERN"  });</a:t>
            </a:r>
          </a:p>
          <a:p>
            <a:r>
              <a:rPr 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768716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2CC74-941C-F46D-8F24-1F6C40791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BCC78-9519-1A94-9D4F-4710E0FE9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4" y="0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HTTP Method Routes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AB44C-BDF3-5A6D-A3EE-5B5F5DEEDD19}"/>
              </a:ext>
            </a:extLst>
          </p:cNvPr>
          <p:cNvSpPr txBox="1"/>
          <p:nvPr/>
        </p:nvSpPr>
        <p:spPr>
          <a:xfrm>
            <a:off x="413993" y="1188025"/>
            <a:ext cx="106436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Methods in Express.js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Methods are used to perform different operations in APIs.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969CE-8B77-5CA9-A694-8A9DA5CF4DAF}"/>
              </a:ext>
            </a:extLst>
          </p:cNvPr>
          <p:cNvSpPr txBox="1"/>
          <p:nvPr/>
        </p:nvSpPr>
        <p:spPr>
          <a:xfrm>
            <a:off x="511404" y="2147403"/>
            <a:ext cx="798214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1. GET Method</a:t>
            </a:r>
          </a:p>
          <a:p>
            <a:pPr>
              <a:buNone/>
            </a:pPr>
            <a:r>
              <a:rPr lang="en-US" sz="2400" dirty="0"/>
              <a:t>Used to </a:t>
            </a:r>
            <a:r>
              <a:rPr lang="en-US" sz="2400" b="1" dirty="0"/>
              <a:t>fetch data</a:t>
            </a:r>
            <a:r>
              <a:rPr lang="en-US" sz="2400" dirty="0"/>
              <a:t> from server.</a:t>
            </a:r>
          </a:p>
          <a:p>
            <a:pPr rtl="0">
              <a:buNone/>
            </a:pPr>
            <a:r>
              <a:rPr lang="en-US" sz="2400" dirty="0" err="1">
                <a:solidFill>
                  <a:srgbClr val="0000FF"/>
                </a:solidFill>
                <a:latin typeface="Courier New" panose="02070309020205020404" pitchFamily="49" charset="0"/>
              </a:rPr>
              <a:t>app.get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("/users", (req, res) =&gt; {</a:t>
            </a:r>
            <a:b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rgbClr val="0000FF"/>
                </a:solidFill>
                <a:latin typeface="Courier New" panose="02070309020205020404" pitchFamily="49" charset="0"/>
              </a:rPr>
              <a:t>res.send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("Fetching Users");</a:t>
            </a:r>
            <a:b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});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2. POST Method</a:t>
            </a:r>
          </a:p>
          <a:p>
            <a:pPr>
              <a:buNone/>
            </a:pPr>
            <a:r>
              <a:rPr lang="en-US" sz="2400" dirty="0"/>
              <a:t>Used to </a:t>
            </a:r>
            <a:r>
              <a:rPr lang="en-US" sz="2400" b="1" dirty="0"/>
              <a:t>send/create data</a:t>
            </a:r>
            <a:r>
              <a:rPr lang="en-US" sz="2400" dirty="0"/>
              <a:t>.</a:t>
            </a:r>
          </a:p>
          <a:p>
            <a:pPr rtl="0">
              <a:buNone/>
            </a:pPr>
            <a:r>
              <a:rPr lang="en-US" sz="2400" dirty="0" err="1">
                <a:solidFill>
                  <a:srgbClr val="0000FF"/>
                </a:solidFill>
                <a:latin typeface="Courier New" panose="02070309020205020404" pitchFamily="49" charset="0"/>
              </a:rPr>
              <a:t>app.post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("/users", (req, res) =&gt; {</a:t>
            </a:r>
            <a:b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rgbClr val="0000FF"/>
                </a:solidFill>
                <a:latin typeface="Courier New" panose="02070309020205020404" pitchFamily="49" charset="0"/>
              </a:rPr>
              <a:t>res.send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("User Created");</a:t>
            </a:r>
            <a:b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489294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5FADA-C47E-A084-4DF4-C3BB3DC91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441C-4B12-0317-269B-6D8CDA12A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4" y="0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HTTP Method Routes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7C957-FED1-0C59-F2C2-284B5822B348}"/>
              </a:ext>
            </a:extLst>
          </p:cNvPr>
          <p:cNvSpPr txBox="1"/>
          <p:nvPr/>
        </p:nvSpPr>
        <p:spPr>
          <a:xfrm>
            <a:off x="615100" y="1459246"/>
            <a:ext cx="848176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3. PUT Method</a:t>
            </a:r>
          </a:p>
          <a:p>
            <a:pPr>
              <a:buNone/>
            </a:pPr>
            <a:r>
              <a:rPr lang="en-US" sz="2400" dirty="0"/>
              <a:t>Used to </a:t>
            </a:r>
            <a:r>
              <a:rPr lang="en-US" sz="2400" b="1" dirty="0"/>
              <a:t>update complete data</a:t>
            </a:r>
            <a:r>
              <a:rPr lang="en-US" sz="2400" dirty="0"/>
              <a:t>.</a:t>
            </a:r>
          </a:p>
          <a:p>
            <a:pPr rtl="0">
              <a:buNone/>
            </a:pPr>
            <a:r>
              <a:rPr lang="en-US" sz="2400" dirty="0" err="1">
                <a:solidFill>
                  <a:srgbClr val="0000FF"/>
                </a:solidFill>
                <a:latin typeface="Courier New" panose="02070309020205020404" pitchFamily="49" charset="0"/>
              </a:rPr>
              <a:t>app.put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("/users", (req, res) =&gt; {</a:t>
            </a:r>
            <a:b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rgbClr val="0000FF"/>
                </a:solidFill>
                <a:latin typeface="Courier New" panose="02070309020205020404" pitchFamily="49" charset="0"/>
              </a:rPr>
              <a:t>res.send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("User Updated");</a:t>
            </a:r>
            <a:b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});</a:t>
            </a:r>
          </a:p>
          <a:p>
            <a:pPr>
              <a:buNone/>
            </a:pPr>
            <a:br>
              <a:rPr lang="en-US" sz="2400" dirty="0"/>
            </a:br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</a:rPr>
              <a:t>4. DELETE Method</a:t>
            </a:r>
          </a:p>
          <a:p>
            <a:pPr>
              <a:buNone/>
            </a:pPr>
            <a:r>
              <a:rPr lang="en-US" sz="2400" dirty="0"/>
              <a:t>Used to </a:t>
            </a:r>
            <a:r>
              <a:rPr lang="en-US" sz="2400" b="1" dirty="0"/>
              <a:t>delete data</a:t>
            </a:r>
            <a:r>
              <a:rPr lang="en-US" sz="2400" dirty="0"/>
              <a:t>.</a:t>
            </a:r>
          </a:p>
          <a:p>
            <a:pPr rtl="0">
              <a:buNone/>
            </a:pPr>
            <a:r>
              <a:rPr lang="en-US" sz="2400" dirty="0" err="1">
                <a:solidFill>
                  <a:srgbClr val="0000FF"/>
                </a:solidFill>
                <a:latin typeface="Courier New" panose="02070309020205020404" pitchFamily="49" charset="0"/>
              </a:rPr>
              <a:t>app.delete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("/users", (req, res) =&gt; {</a:t>
            </a:r>
            <a:b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rgbClr val="0000FF"/>
                </a:solidFill>
                <a:latin typeface="Courier New" panose="02070309020205020404" pitchFamily="49" charset="0"/>
              </a:rPr>
              <a:t>res.send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("User Deleted");</a:t>
            </a:r>
            <a:b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719964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7C568-68EB-EB79-E450-32688580E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112B8-8A51-BA7F-D12D-80D7A611F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5" y="-414779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Parameters in Express.js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DE77E6-7146-6F00-EAB6-E19C41E52766}"/>
              </a:ext>
            </a:extLst>
          </p:cNvPr>
          <p:cNvSpPr txBox="1"/>
          <p:nvPr/>
        </p:nvSpPr>
        <p:spPr>
          <a:xfrm>
            <a:off x="206603" y="807089"/>
            <a:ext cx="9682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Parameters are used to send small data through the URL.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appear after ? in the URL.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1AADA2-A0AB-0D79-317B-560F3F158D15}"/>
              </a:ext>
            </a:extLst>
          </p:cNvPr>
          <p:cNvSpPr txBox="1"/>
          <p:nvPr/>
        </p:nvSpPr>
        <p:spPr>
          <a:xfrm>
            <a:off x="443061" y="1641977"/>
            <a:ext cx="62028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URL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http://localhost:3000/search?name=meenu</a:t>
            </a:r>
          </a:p>
          <a:p>
            <a:pPr>
              <a:buNone/>
            </a:pPr>
            <a:r>
              <a:rPr lang="en-US" dirty="0"/>
              <a:t>Here: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name = </a:t>
            </a:r>
            <a:r>
              <a:rPr lang="en-US" dirty="0" err="1">
                <a:latin typeface="Courier New" panose="02070309020205020404" pitchFamily="49" charset="0"/>
              </a:rPr>
              <a:t>meenu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Access Query Parameters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app.get</a:t>
            </a:r>
            <a:r>
              <a:rPr lang="en-US" dirty="0">
                <a:latin typeface="Courier New" panose="02070309020205020404" pitchFamily="49" charset="0"/>
              </a:rPr>
              <a:t>("/search", (req, res) =&gt; 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res.send</a:t>
            </a:r>
            <a:r>
              <a:rPr lang="en-US" dirty="0">
                <a:latin typeface="Courier New" panose="02070309020205020404" pitchFamily="49" charset="0"/>
              </a:rPr>
              <a:t>(req.query.name);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D48DDC-9ED2-59C6-ABCF-EB48789DB227}"/>
              </a:ext>
            </a:extLst>
          </p:cNvPr>
          <p:cNvSpPr txBox="1"/>
          <p:nvPr/>
        </p:nvSpPr>
        <p:spPr>
          <a:xfrm>
            <a:off x="443061" y="4842004"/>
            <a:ext cx="62028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</a:t>
            </a:r>
          </a:p>
          <a:p>
            <a:pPr>
              <a:buNone/>
            </a:pPr>
            <a:r>
              <a:rPr lang="en-US" dirty="0"/>
              <a:t>If URL is: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http://localhost:3000/search?name=meenu</a:t>
            </a:r>
          </a:p>
          <a:p>
            <a:pPr>
              <a:buNone/>
            </a:pPr>
            <a:r>
              <a:rPr lang="en-US" dirty="0"/>
              <a:t>Response: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meenu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184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C8080-361A-C61C-C6E6-EFF6EB96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5FB9-6271-DFAF-9CC6-5E5B02317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58" y="81857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Query Parameters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533C1-DF67-3715-CEC0-20224C8C50F0}"/>
              </a:ext>
            </a:extLst>
          </p:cNvPr>
          <p:cNvSpPr txBox="1"/>
          <p:nvPr/>
        </p:nvSpPr>
        <p:spPr>
          <a:xfrm>
            <a:off x="659878" y="1664928"/>
            <a:ext cx="838985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URL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http://localhost:3000/user?name=meenu&amp;age=21</a:t>
            </a:r>
          </a:p>
          <a:p>
            <a:pPr>
              <a:buNone/>
            </a:pPr>
            <a:r>
              <a:rPr lang="en-US" sz="2400" b="1" dirty="0"/>
              <a:t>Route</a:t>
            </a:r>
          </a:p>
          <a:p>
            <a:pPr rtl="0">
              <a:buNone/>
            </a:pPr>
            <a:r>
              <a:rPr lang="en-US" sz="2400" dirty="0" err="1">
                <a:latin typeface="Courier New" panose="02070309020205020404" pitchFamily="49" charset="0"/>
              </a:rPr>
              <a:t>app.get</a:t>
            </a:r>
            <a:r>
              <a:rPr lang="en-US" sz="2400" dirty="0">
                <a:latin typeface="Courier New" panose="02070309020205020404" pitchFamily="49" charset="0"/>
              </a:rPr>
              <a:t>("/user", (req, res) =&gt; {</a:t>
            </a:r>
            <a:br>
              <a:rPr lang="en-US" sz="2400" dirty="0">
                <a:latin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</a:rPr>
              <a:t>  const name = req.query.name;</a:t>
            </a:r>
            <a:br>
              <a:rPr lang="en-US" sz="2400" dirty="0">
                <a:latin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</a:rPr>
              <a:t>  const age = </a:t>
            </a:r>
            <a:r>
              <a:rPr lang="en-US" sz="2400" dirty="0" err="1">
                <a:latin typeface="Courier New" panose="02070309020205020404" pitchFamily="49" charset="0"/>
              </a:rPr>
              <a:t>req.query.age</a:t>
            </a:r>
            <a:r>
              <a:rPr lang="en-US" sz="2400" dirty="0">
                <a:latin typeface="Courier New" panose="02070309020205020404" pitchFamily="49" charset="0"/>
              </a:rPr>
              <a:t>;</a:t>
            </a:r>
            <a:br>
              <a:rPr lang="en-US" sz="2400" dirty="0">
                <a:latin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</a:rPr>
              <a:t>  </a:t>
            </a:r>
            <a:r>
              <a:rPr lang="en-US" sz="2400" dirty="0" err="1">
                <a:latin typeface="Courier New" panose="02070309020205020404" pitchFamily="49" charset="0"/>
              </a:rPr>
              <a:t>res.send</a:t>
            </a:r>
            <a:r>
              <a:rPr lang="en-US" sz="2400" dirty="0">
                <a:latin typeface="Courier New" panose="02070309020205020404" pitchFamily="49" charset="0"/>
              </a:rPr>
              <a:t>(name + " " + age);</a:t>
            </a:r>
            <a:br>
              <a:rPr lang="en-US" sz="2400" dirty="0">
                <a:latin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180750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1067-4E4C-0B34-CD89-882E6D0EC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4012-E22C-5EB9-98CA-BDA836849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58" y="81857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Query Parameters?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0465F-C904-4C72-09FD-71979E07BD8D}"/>
              </a:ext>
            </a:extLst>
          </p:cNvPr>
          <p:cNvSpPr txBox="1"/>
          <p:nvPr/>
        </p:nvSpPr>
        <p:spPr>
          <a:xfrm>
            <a:off x="537329" y="1407420"/>
            <a:ext cx="86066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✅ Searching</a:t>
            </a:r>
            <a:br>
              <a:rPr lang="en-US" sz="2400" dirty="0"/>
            </a:br>
            <a:r>
              <a:rPr lang="en-US" sz="2400" dirty="0"/>
              <a:t>✅ Filtering</a:t>
            </a:r>
            <a:br>
              <a:rPr lang="en-US" sz="2400" dirty="0"/>
            </a:br>
            <a:r>
              <a:rPr lang="en-US" sz="2400" dirty="0"/>
              <a:t>✅ Sorting</a:t>
            </a:r>
            <a:br>
              <a:rPr lang="en-US" sz="2400" dirty="0"/>
            </a:br>
            <a:r>
              <a:rPr lang="en-US" sz="2400" dirty="0"/>
              <a:t>✅ Pagination</a:t>
            </a:r>
          </a:p>
          <a:p>
            <a:pPr>
              <a:buNone/>
            </a:pPr>
            <a:br>
              <a:rPr lang="en-US" sz="2400" dirty="0"/>
            </a:br>
            <a:endParaRPr lang="en-US" sz="2400" dirty="0"/>
          </a:p>
          <a:p>
            <a:pPr>
              <a:buNone/>
            </a:pPr>
            <a:r>
              <a:rPr lang="en-US" sz="2400" b="1" dirty="0"/>
              <a:t>Real Examples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/</a:t>
            </a:r>
            <a:r>
              <a:rPr lang="en-US" sz="2400" dirty="0" err="1">
                <a:latin typeface="Courier New" panose="02070309020205020404" pitchFamily="49" charset="0"/>
              </a:rPr>
              <a:t>products?page</a:t>
            </a:r>
            <a:r>
              <a:rPr lang="en-US" sz="2400" dirty="0">
                <a:latin typeface="Courier New" panose="02070309020205020404" pitchFamily="49" charset="0"/>
              </a:rPr>
              <a:t>=1</a:t>
            </a:r>
            <a:br>
              <a:rPr lang="en-US" sz="2400" dirty="0">
                <a:latin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</a:rPr>
              <a:t>/</a:t>
            </a:r>
            <a:r>
              <a:rPr lang="en-US" sz="2400" dirty="0" err="1">
                <a:latin typeface="Courier New" panose="02070309020205020404" pitchFamily="49" charset="0"/>
              </a:rPr>
              <a:t>users?age</a:t>
            </a:r>
            <a:r>
              <a:rPr lang="en-US" sz="2400" dirty="0">
                <a:latin typeface="Courier New" panose="02070309020205020404" pitchFamily="49" charset="0"/>
              </a:rPr>
              <a:t>=21</a:t>
            </a:r>
            <a:br>
              <a:rPr lang="en-US" sz="2400" dirty="0">
                <a:latin typeface="Courier New" panose="02070309020205020404" pitchFamily="49" charset="0"/>
              </a:rPr>
            </a:br>
            <a:br>
              <a:rPr lang="en-US" sz="2400" dirty="0">
                <a:latin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</a:rPr>
              <a:t>/</a:t>
            </a:r>
            <a:r>
              <a:rPr lang="en-US" sz="2400" dirty="0" err="1">
                <a:latin typeface="Courier New" panose="02070309020205020404" pitchFamily="49" charset="0"/>
              </a:rPr>
              <a:t>search?keyword</a:t>
            </a:r>
            <a:r>
              <a:rPr lang="en-US" sz="2400" dirty="0">
                <a:latin typeface="Courier New" panose="02070309020205020404" pitchFamily="49" charset="0"/>
              </a:rPr>
              <a:t>=laptop</a:t>
            </a:r>
          </a:p>
        </p:txBody>
      </p:sp>
    </p:spTree>
    <p:extLst>
      <p:ext uri="{BB962C8B-B14F-4D97-AF65-F5344CB8AC3E}">
        <p14:creationId xmlns:p14="http://schemas.microsoft.com/office/powerpoint/2010/main" val="2963457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91880-2141-2F76-EF9E-FE7E744B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88148-37DC-5FE2-9CEF-639778C24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58" y="81857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We Are Building a Food Delivery Backend Server 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FA503B-4262-697D-70D7-6FB4B42A2B23}"/>
              </a:ext>
            </a:extLst>
          </p:cNvPr>
          <p:cNvSpPr txBox="1"/>
          <p:nvPr/>
        </p:nvSpPr>
        <p:spPr>
          <a:xfrm>
            <a:off x="225458" y="1372539"/>
            <a:ext cx="98816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Apps like Zomato or Swiggy perform many backend operations simultaneously using Node.js + Express.js.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20B38A-914D-F729-5F7B-043F3487C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478" y="1976469"/>
            <a:ext cx="4379291" cy="479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67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E584BE-0C39-5B0F-E31D-EC312F412835}"/>
              </a:ext>
            </a:extLst>
          </p:cNvPr>
          <p:cNvSpPr txBox="1"/>
          <p:nvPr/>
        </p:nvSpPr>
        <p:spPr>
          <a:xfrm>
            <a:off x="537328" y="814888"/>
            <a:ext cx="826495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User APIs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POST /register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POST /login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GET /profile</a:t>
            </a:r>
          </a:p>
          <a:p>
            <a:pPr>
              <a:buNone/>
            </a:pPr>
            <a:br>
              <a:rPr lang="en-US" sz="2000" dirty="0"/>
            </a:br>
            <a:r>
              <a:rPr lang="en-US" sz="2000" b="1" dirty="0"/>
              <a:t>Restaurant APIs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GET /menu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POST /add-food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PUT /update-food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Cart APIs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POST /add-to-cart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DELETE /remove-item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GET /cart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Payment APIs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POST /payment</a:t>
            </a:r>
            <a:br>
              <a:rPr lang="en-US" sz="2000" dirty="0">
                <a:latin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</a:rPr>
              <a:t>GET /payment-status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6900E7-A8B4-6BF6-15B6-6780BA2E7E23}"/>
              </a:ext>
            </a:extLst>
          </p:cNvPr>
          <p:cNvSpPr txBox="1"/>
          <p:nvPr/>
        </p:nvSpPr>
        <p:spPr>
          <a:xfrm>
            <a:off x="426564" y="230113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Backend APIs Examples</a:t>
            </a:r>
          </a:p>
        </p:txBody>
      </p:sp>
    </p:spTree>
    <p:extLst>
      <p:ext uri="{BB962C8B-B14F-4D97-AF65-F5344CB8AC3E}">
        <p14:creationId xmlns:p14="http://schemas.microsoft.com/office/powerpoint/2010/main" val="3588804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37AB6-C855-E4B6-6580-14BF0710C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A5A8713-17B5-1804-9EC7-34D48F0E65A9}"/>
              </a:ext>
            </a:extLst>
          </p:cNvPr>
          <p:cNvSpPr txBox="1"/>
          <p:nvPr/>
        </p:nvSpPr>
        <p:spPr>
          <a:xfrm>
            <a:off x="426564" y="230113"/>
            <a:ext cx="7642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Food Delivery APIs Example 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289545-12BE-9036-56E6-D4B08BE2E22D}"/>
              </a:ext>
            </a:extLst>
          </p:cNvPr>
          <p:cNvSpPr txBox="1"/>
          <p:nvPr/>
        </p:nvSpPr>
        <p:spPr>
          <a:xfrm>
            <a:off x="511404" y="1079271"/>
            <a:ext cx="60944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User APIs</a:t>
            </a:r>
          </a:p>
          <a:p>
            <a:pPr>
              <a:buNone/>
            </a:pPr>
            <a:r>
              <a:rPr lang="en-US" b="1" dirty="0"/>
              <a:t>Register User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app.post</a:t>
            </a:r>
            <a:r>
              <a:rPr lang="en-US" dirty="0">
                <a:latin typeface="Courier New" panose="02070309020205020404" pitchFamily="49" charset="0"/>
              </a:rPr>
              <a:t>("/register", (req, res) =&gt; {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const user = </a:t>
            </a:r>
            <a:r>
              <a:rPr lang="en-US" dirty="0" err="1">
                <a:latin typeface="Courier New" panose="02070309020205020404" pitchFamily="49" charset="0"/>
              </a:rPr>
              <a:t>req.body</a:t>
            </a:r>
            <a:r>
              <a:rPr lang="en-US" dirty="0">
                <a:latin typeface="Courier New" panose="02070309020205020404" pitchFamily="49" charset="0"/>
              </a:rPr>
              <a:t>;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res.json</a:t>
            </a:r>
            <a:r>
              <a:rPr lang="en-US" dirty="0">
                <a:latin typeface="Courier New" panose="02070309020205020404" pitchFamily="49" charset="0"/>
              </a:rPr>
              <a:t>({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message: "User Registered",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user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});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A6B42B-AD0F-AA25-5728-F9D1F02D859A}"/>
              </a:ext>
            </a:extLst>
          </p:cNvPr>
          <p:cNvSpPr txBox="1"/>
          <p:nvPr/>
        </p:nvSpPr>
        <p:spPr>
          <a:xfrm>
            <a:off x="699941" y="4656370"/>
            <a:ext cx="6094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Body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"name": "Rahul",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"email": "rahul@gmail.com",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"password": "1234"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D25E0D-9CCD-FD4A-F0CA-CDF5E9F738C8}"/>
              </a:ext>
            </a:extLst>
          </p:cNvPr>
          <p:cNvSpPr txBox="1"/>
          <p:nvPr/>
        </p:nvSpPr>
        <p:spPr>
          <a:xfrm>
            <a:off x="6422011" y="814888"/>
            <a:ext cx="609442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Login User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app.post</a:t>
            </a:r>
            <a:r>
              <a:rPr lang="en-US" dirty="0">
                <a:latin typeface="Courier New" panose="02070309020205020404" pitchFamily="49" charset="0"/>
              </a:rPr>
              <a:t>("/login", (req, res) =&gt; {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const { email, password } = </a:t>
            </a:r>
            <a:r>
              <a:rPr lang="en-US" dirty="0" err="1">
                <a:latin typeface="Courier New" panose="02070309020205020404" pitchFamily="49" charset="0"/>
              </a:rPr>
              <a:t>req.body</a:t>
            </a:r>
            <a:r>
              <a:rPr lang="en-US" dirty="0">
                <a:latin typeface="Courier New" panose="02070309020205020404" pitchFamily="49" charset="0"/>
              </a:rPr>
              <a:t>;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res.json</a:t>
            </a:r>
            <a:r>
              <a:rPr lang="en-US" dirty="0">
                <a:latin typeface="Courier New" panose="02070309020205020404" pitchFamily="49" charset="0"/>
              </a:rPr>
              <a:t>({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message: "Login Successful",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email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});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});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Get Profile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app.get</a:t>
            </a:r>
            <a:r>
              <a:rPr lang="en-US" dirty="0">
                <a:latin typeface="Courier New" panose="02070309020205020404" pitchFamily="49" charset="0"/>
              </a:rPr>
              <a:t>("/profile", (req, res) =&gt; {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res.json</a:t>
            </a:r>
            <a:r>
              <a:rPr lang="en-US" dirty="0">
                <a:latin typeface="Courier New" panose="02070309020205020404" pitchFamily="49" charset="0"/>
              </a:rPr>
              <a:t>({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id: 1,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name: "Rahul",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email: "rahul@gmail.com"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});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400657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05CC37-1CF0-352D-3411-802C2B7C0C0C}"/>
              </a:ext>
            </a:extLst>
          </p:cNvPr>
          <p:cNvSpPr txBox="1"/>
          <p:nvPr/>
        </p:nvSpPr>
        <p:spPr>
          <a:xfrm>
            <a:off x="205035" y="197346"/>
            <a:ext cx="609442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Restaurant APIs</a:t>
            </a:r>
          </a:p>
          <a:p>
            <a:pPr>
              <a:buNone/>
            </a:pPr>
            <a:r>
              <a:rPr lang="en-US" b="1" dirty="0"/>
              <a:t>Get Menu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app.get</a:t>
            </a:r>
            <a:r>
              <a:rPr lang="en-US" dirty="0">
                <a:latin typeface="Courier New" panose="02070309020205020404" pitchFamily="49" charset="0"/>
              </a:rPr>
              <a:t>("/menu", (req, res) =&gt; {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const foods = [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{ id: 1, name: "Burger", price: 120 },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{ id: 2, name: "Pizza", price: 250 }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];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res.json</a:t>
            </a:r>
            <a:r>
              <a:rPr lang="en-US" dirty="0">
                <a:latin typeface="Courier New" panose="02070309020205020404" pitchFamily="49" charset="0"/>
              </a:rPr>
              <a:t>(foods);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});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Add Food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app.post</a:t>
            </a:r>
            <a:r>
              <a:rPr lang="en-US" dirty="0">
                <a:latin typeface="Courier New" panose="02070309020205020404" pitchFamily="49" charset="0"/>
              </a:rPr>
              <a:t>("/add-food", (req, res) =&gt; {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const food = </a:t>
            </a:r>
            <a:r>
              <a:rPr lang="en-US" dirty="0" err="1">
                <a:latin typeface="Courier New" panose="02070309020205020404" pitchFamily="49" charset="0"/>
              </a:rPr>
              <a:t>req.body</a:t>
            </a:r>
            <a:r>
              <a:rPr lang="en-US" dirty="0">
                <a:latin typeface="Courier New" panose="02070309020205020404" pitchFamily="49" charset="0"/>
              </a:rPr>
              <a:t>;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res.json</a:t>
            </a:r>
            <a:r>
              <a:rPr lang="en-US" dirty="0">
                <a:latin typeface="Courier New" panose="02070309020205020404" pitchFamily="49" charset="0"/>
              </a:rPr>
              <a:t>({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message: "Food Added",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food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});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});</a:t>
            </a:r>
          </a:p>
        </p:txBody>
      </p:sp>
      <p:sp useBgFill="1">
        <p:nvSpPr>
          <p:cNvPr id="7" name="TextBox 6">
            <a:extLst>
              <a:ext uri="{FF2B5EF4-FFF2-40B4-BE49-F238E27FC236}">
                <a16:creationId xmlns:a16="http://schemas.microsoft.com/office/drawing/2014/main" id="{F1EE9100-C5CE-524A-1306-28B0084C9085}"/>
              </a:ext>
            </a:extLst>
          </p:cNvPr>
          <p:cNvSpPr txBox="1"/>
          <p:nvPr/>
        </p:nvSpPr>
        <p:spPr>
          <a:xfrm>
            <a:off x="6086573" y="385265"/>
            <a:ext cx="6094428" cy="6463308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Update Food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app.put</a:t>
            </a:r>
            <a:r>
              <a:rPr lang="en-US" dirty="0">
                <a:latin typeface="Courier New" panose="02070309020205020404" pitchFamily="49" charset="0"/>
              </a:rPr>
              <a:t>("/update-food/:id", (req, res) =&gt; 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const id = req.params.id;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const </a:t>
            </a:r>
            <a:r>
              <a:rPr lang="en-US" dirty="0" err="1">
                <a:latin typeface="Courier New" panose="02070309020205020404" pitchFamily="49" charset="0"/>
              </a:rPr>
              <a:t>updatedFood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req.body</a:t>
            </a:r>
            <a:r>
              <a:rPr lang="en-US" dirty="0">
                <a:latin typeface="Courier New" panose="02070309020205020404" pitchFamily="49" charset="0"/>
              </a:rPr>
              <a:t>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res.json</a:t>
            </a:r>
            <a:r>
              <a:rPr lang="en-US" dirty="0">
                <a:latin typeface="Courier New" panose="02070309020205020404" pitchFamily="49" charset="0"/>
              </a:rPr>
              <a:t>({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message: "Food Updated",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id,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updatedFood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});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});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3. Cart APIs</a:t>
            </a:r>
          </a:p>
          <a:p>
            <a:pPr>
              <a:buNone/>
            </a:pPr>
            <a:r>
              <a:rPr lang="en-US" b="1" dirty="0"/>
              <a:t>Add To Cart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app.post</a:t>
            </a:r>
            <a:r>
              <a:rPr lang="en-US" dirty="0">
                <a:latin typeface="Courier New" panose="02070309020205020404" pitchFamily="49" charset="0"/>
              </a:rPr>
              <a:t>("/add-to-cart", (req, res) =&gt; 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const item = </a:t>
            </a:r>
            <a:r>
              <a:rPr lang="en-US" dirty="0" err="1">
                <a:latin typeface="Courier New" panose="02070309020205020404" pitchFamily="49" charset="0"/>
              </a:rPr>
              <a:t>req.body</a:t>
            </a:r>
            <a:r>
              <a:rPr lang="en-US" dirty="0">
                <a:latin typeface="Courier New" panose="02070309020205020404" pitchFamily="49" charset="0"/>
              </a:rPr>
              <a:t>;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res.json</a:t>
            </a:r>
            <a:r>
              <a:rPr lang="en-US" dirty="0">
                <a:latin typeface="Courier New" panose="02070309020205020404" pitchFamily="49" charset="0"/>
              </a:rPr>
              <a:t>({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message: "Item Added To Cart",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item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});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});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701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1A9C7B-13C5-A2F5-6BB2-C202AC84CF3E}"/>
              </a:ext>
            </a:extLst>
          </p:cNvPr>
          <p:cNvSpPr txBox="1"/>
          <p:nvPr/>
        </p:nvSpPr>
        <p:spPr>
          <a:xfrm>
            <a:off x="332296" y="0"/>
            <a:ext cx="609442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Remove Item From Cart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app.delete</a:t>
            </a:r>
            <a:r>
              <a:rPr lang="en-US" dirty="0">
                <a:latin typeface="Courier New" panose="02070309020205020404" pitchFamily="49" charset="0"/>
              </a:rPr>
              <a:t>("/remove-item/:id", (req, res) =&gt; {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const id = req.params.id;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res.json</a:t>
            </a:r>
            <a:r>
              <a:rPr lang="en-US" dirty="0">
                <a:latin typeface="Courier New" panose="02070309020205020404" pitchFamily="49" charset="0"/>
              </a:rPr>
              <a:t>({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message: "Item Removed",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id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});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});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Get Cart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app.get</a:t>
            </a:r>
            <a:r>
              <a:rPr lang="en-US" dirty="0">
                <a:latin typeface="Courier New" panose="02070309020205020404" pitchFamily="49" charset="0"/>
              </a:rPr>
              <a:t>("/cart", (req, res) =&gt; {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const cart = [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{ name: "Burger", quantity: 2 },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{ name: "Pizza", quantity: 1 }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];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res.json</a:t>
            </a:r>
            <a:r>
              <a:rPr lang="en-US" dirty="0">
                <a:latin typeface="Courier New" panose="02070309020205020404" pitchFamily="49" charset="0"/>
              </a:rPr>
              <a:t>(cart);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B0A9D-B51B-BAB1-AEBD-53877C210F62}"/>
              </a:ext>
            </a:extLst>
          </p:cNvPr>
          <p:cNvSpPr txBox="1"/>
          <p:nvPr/>
        </p:nvSpPr>
        <p:spPr>
          <a:xfrm>
            <a:off x="6261755" y="0"/>
            <a:ext cx="593024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Payment APIs</a:t>
            </a:r>
          </a:p>
          <a:p>
            <a:pPr>
              <a:buNone/>
            </a:pPr>
            <a:r>
              <a:rPr lang="en-US" b="1" dirty="0"/>
              <a:t>Make Payment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app.post</a:t>
            </a:r>
            <a:r>
              <a:rPr lang="en-US" dirty="0">
                <a:latin typeface="Courier New" panose="02070309020205020404" pitchFamily="49" charset="0"/>
              </a:rPr>
              <a:t>("/payment", (req, res) =&gt; {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const payment = </a:t>
            </a:r>
            <a:r>
              <a:rPr lang="en-US" dirty="0" err="1">
                <a:latin typeface="Courier New" panose="02070309020205020404" pitchFamily="49" charset="0"/>
              </a:rPr>
              <a:t>req.body</a:t>
            </a:r>
            <a:r>
              <a:rPr lang="en-US" dirty="0">
                <a:latin typeface="Courier New" panose="02070309020205020404" pitchFamily="49" charset="0"/>
              </a:rPr>
              <a:t>;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res.json</a:t>
            </a:r>
            <a:r>
              <a:rPr lang="en-US" dirty="0">
                <a:latin typeface="Courier New" panose="02070309020205020404" pitchFamily="49" charset="0"/>
              </a:rPr>
              <a:t>({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message: "Payment Successful",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payment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});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});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Payment Status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app.get</a:t>
            </a:r>
            <a:r>
              <a:rPr lang="en-US" dirty="0">
                <a:latin typeface="Courier New" panose="02070309020205020404" pitchFamily="49" charset="0"/>
              </a:rPr>
              <a:t>("/payment-status", (req, res) =&gt; {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</a:rPr>
              <a:t>res.json</a:t>
            </a:r>
            <a:r>
              <a:rPr lang="en-US" dirty="0">
                <a:latin typeface="Courier New" panose="02070309020205020404" pitchFamily="49" charset="0"/>
              </a:rPr>
              <a:t>({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status: "Success",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transactionId</a:t>
            </a:r>
            <a:r>
              <a:rPr lang="en-US" dirty="0">
                <a:latin typeface="Courier New" panose="02070309020205020404" pitchFamily="49" charset="0"/>
              </a:rPr>
              <a:t>: "TXN12345"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});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});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959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B0C31D-946A-1563-F9AE-9039C39EB067}"/>
              </a:ext>
            </a:extLst>
          </p:cNvPr>
          <p:cNvSpPr txBox="1"/>
          <p:nvPr/>
        </p:nvSpPr>
        <p:spPr>
          <a:xfrm>
            <a:off x="426564" y="445492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Final Server Setup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app.listen</a:t>
            </a:r>
            <a:r>
              <a:rPr lang="en-US" dirty="0">
                <a:latin typeface="Courier New" panose="02070309020205020404" pitchFamily="49" charset="0"/>
              </a:rPr>
              <a:t>(3000, () =&gt; {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console.log(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"Food Delivery Server Running"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40AD3-9A60-DE16-F436-660D53FAF4DF}"/>
              </a:ext>
            </a:extLst>
          </p:cNvPr>
          <p:cNvSpPr txBox="1"/>
          <p:nvPr/>
        </p:nvSpPr>
        <p:spPr>
          <a:xfrm>
            <a:off x="275735" y="264627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Run the Sever</a:t>
            </a:r>
          </a:p>
        </p:txBody>
      </p:sp>
    </p:spTree>
    <p:extLst>
      <p:ext uri="{BB962C8B-B14F-4D97-AF65-F5344CB8AC3E}">
        <p14:creationId xmlns:p14="http://schemas.microsoft.com/office/powerpoint/2010/main" val="347718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1407</Words>
  <Application>Microsoft Office PowerPoint</Application>
  <PresentationFormat>Widescreen</PresentationFormat>
  <Paragraphs>145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Tahoma</vt:lpstr>
      <vt:lpstr>Times New Roman</vt:lpstr>
      <vt:lpstr>Office Theme</vt:lpstr>
      <vt:lpstr>PowerPoint Presentation</vt:lpstr>
      <vt:lpstr>What is Express.js?</vt:lpstr>
      <vt:lpstr>Why Use Express?</vt:lpstr>
      <vt:lpstr>CREATE YOUR FIRST SERVER</vt:lpstr>
      <vt:lpstr>Create First Server</vt:lpstr>
      <vt:lpstr>Run the Server</vt:lpstr>
      <vt:lpstr>Understanding app.get()</vt:lpstr>
      <vt:lpstr>Create Multiple Routes </vt:lpstr>
      <vt:lpstr>Different HTTP Method Routes</vt:lpstr>
      <vt:lpstr>Different HTTP Method Routes</vt:lpstr>
      <vt:lpstr>Query Parameters in Express.js</vt:lpstr>
      <vt:lpstr>Multiple Query Parameters</vt:lpstr>
      <vt:lpstr>Why Use Query Parameters?</vt:lpstr>
      <vt:lpstr>Imagine We Are Building a Food Delivery Backend Server 🍔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Nitish Chauhan</dc:creator>
  <cp:lastModifiedBy>Nitish Chauhan</cp:lastModifiedBy>
  <cp:revision>12</cp:revision>
  <dcterms:created xsi:type="dcterms:W3CDTF">2026-05-17T18:24:22Z</dcterms:created>
  <dcterms:modified xsi:type="dcterms:W3CDTF">2026-05-17T20:01:39Z</dcterms:modified>
</cp:coreProperties>
</file>